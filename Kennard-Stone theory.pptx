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3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C60243"/>
    <a:srgbClr val="F20253"/>
    <a:srgbClr val="2595CD"/>
    <a:srgbClr val="0000FF"/>
    <a:srgbClr val="F96B12"/>
    <a:srgbClr val="FB9432"/>
    <a:srgbClr val="CEE4FF"/>
    <a:srgbClr val="FF0000"/>
    <a:srgbClr val="0000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85677" autoAdjust="0"/>
  </p:normalViewPr>
  <p:slideViewPr>
    <p:cSldViewPr snapToGrid="0" showGuides="1">
      <p:cViewPr varScale="1">
        <p:scale>
          <a:sx n="71" d="100"/>
          <a:sy n="71" d="100"/>
        </p:scale>
        <p:origin x="70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A2961-03BD-4939-BF57-1DC7AE132560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F58A33-9185-434E-A373-C538459D7E9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063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C86D-279B-FDD4-C787-81586F6C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91F659D-D143-CCDB-7869-145E460D2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E63FF7-74DE-FDE6-C0A2-4BB9DBF0D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cada amostra não selecionada, ele identifica qual é a menor distância entre ela e as amostras já selecionadas (calcula a distancia entre ela e a primeira e depois entre ela e a segunda selecionadas, a menor é a distancia selecionada). Essa distância “mínima” serve como uma medida de quão distante essa amostra está do conjunto selecionado até então</a:t>
            </a:r>
            <a:endParaRPr lang="pt-BR" u="sng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EE4756-ED6C-62B5-54A6-4398CFB6B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30157-C6AC-4F3D-A59B-F8C83EE2E2D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119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78204-1BEA-3883-BF7E-29F75E940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78C33F-8A9F-DC0C-D2FB-7111CE404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5D230C-8813-AF69-9BC8-FAB3A043B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E3EC-6BBB-4F2E-A568-C4F5C53E04B3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6965AD-8FB5-C59A-A989-2EF7C51B7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BC9433-A7DE-2579-A451-EB7EDD6E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C0BA-A702-4B4B-9CB7-5F5313CB17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39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E1559-D95E-0754-F12A-4FFF84CAF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2246DA-43DF-D927-D73D-B1ADD7A92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A6FF11-586A-A2E3-1E1F-7A2EF8044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E3EC-6BBB-4F2E-A568-C4F5C53E04B3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904B48-3896-BE17-631F-9C805FCE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709EAB-7F1E-8931-DABC-E2593A1A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C0BA-A702-4B4B-9CB7-5F5313CB17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632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23FF5-CD22-145B-F248-CED89E7BF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FAB4A5-BABB-BD0D-092C-4E73C8A2B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B65C57-F016-1C0B-9BD7-83F2E7A7C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E3EC-6BBB-4F2E-A568-C4F5C53E04B3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08D47D-D574-5245-16C3-F85C5F31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BB4A0D-933C-C257-87FD-16AEB11A0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C0BA-A702-4B4B-9CB7-5F5313CB17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19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5EFED-C44B-B99E-44FB-715E10D18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A0A61D-BC8C-0EB9-5415-7F2CC98DB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91E6AC-CC97-C0F1-3361-7F3916C50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F4E8BD-6D60-A396-CE7F-45D52545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E3EC-6BBB-4F2E-A568-C4F5C53E04B3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214832-3E68-7CC9-AC7D-3C6D1BF82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4AB11B-D0DA-85D7-E430-EE723770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C0BA-A702-4B4B-9CB7-5F5313CB17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0883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FE7A2-FCAC-5F4F-0E97-0229FEDA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534E6B-D7D6-884B-C72F-F4E6C8DE6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D57AD3-44BD-879F-255E-C008ECF5E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00511DC-3348-87FC-0DDC-C981D40E4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001D5F-3C71-566A-1F9A-D3F230995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C7FC8A2-6749-639D-3CE9-ED260877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E3EC-6BBB-4F2E-A568-C4F5C53E04B3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3625AEA-A53B-C108-AADB-21E63CEB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8CF855E-F6B7-A4BE-B8BF-BE0D945C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C0BA-A702-4B4B-9CB7-5F5313CB17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6899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AB8F1-80F3-FB3C-214C-EBB0ADDFF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5DEFE33-7730-38EE-BD86-780C4FA50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E3EC-6BBB-4F2E-A568-C4F5C53E04B3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667CE6B-852B-2F3C-707F-66FE6F95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71ECBE6-4041-5833-AE0C-BF0FD657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C0BA-A702-4B4B-9CB7-5F5313CB17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080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B45E686-6BDC-FED1-57F9-5012AD945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E3EC-6BBB-4F2E-A568-C4F5C53E04B3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A7D3A15-EFD4-7958-A58F-95586277E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6D978C-87EE-3692-79A1-A7E763EF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8783" y="6356350"/>
            <a:ext cx="2743200" cy="365125"/>
          </a:xfrm>
        </p:spPr>
        <p:txBody>
          <a:bodyPr/>
          <a:lstStyle>
            <a:lvl1pPr>
              <a:defRPr sz="2800">
                <a:solidFill>
                  <a:srgbClr val="22739E"/>
                </a:solidFill>
              </a:defRPr>
            </a:lvl1pPr>
          </a:lstStyle>
          <a:p>
            <a:fld id="{ED78C0BA-A702-4B4B-9CB7-5F5313CB1748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043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3096E-1805-356C-C8D7-72D20C17C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B0CA2B-FEAB-1A6D-95F7-324CF6632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DD7031-5EAC-BA47-81EF-F66F29D72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4F6E81-AB4B-9E54-31B9-76D17445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E3EC-6BBB-4F2E-A568-C4F5C53E04B3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DD5A64-A66E-62A5-3D51-D7AF6F7A1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F88DDA-D101-F23B-EF76-D3F68D5D5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C0BA-A702-4B4B-9CB7-5F5313CB17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0482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98917-1FA0-ED91-CFDC-D26B15CE1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8D276A7-3CFF-C0FC-AE03-CE12CE46F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0895F3-7C24-D4DB-5A07-F7560655C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B8CF0C-AAEF-4245-752A-91C07BE10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E3EC-6BBB-4F2E-A568-C4F5C53E04B3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CA2541-1D2A-199E-F485-3896AA4D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0A58BB-5FC1-EFED-79BB-AEDC75F0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C0BA-A702-4B4B-9CB7-5F5313CB17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3106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158A4-C949-FC12-1061-91B152E08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95E91D-9324-F58F-DE8B-C3D0AB204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5C9838-C0ED-F845-364D-4C1D42C4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E3EC-6BBB-4F2E-A568-C4F5C53E04B3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52B70D-50E3-0519-E608-0426B7EB5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B3A1F0-1782-811C-FF6D-671EFBF97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C0BA-A702-4B4B-9CB7-5F5313CB17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937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A62CAA-F37D-63AF-6A15-C19BEED56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DCDA4F-3B2B-F5E6-8890-6D7938F1E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21DDEA-A6D7-D3AC-9BE2-CF2968390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E3EC-6BBB-4F2E-A568-C4F5C53E04B3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74CB30-3C2A-7378-6BB2-EEF215547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EE45E3-0AE5-C090-F5DC-86D0E0CDC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C0BA-A702-4B4B-9CB7-5F5313CB17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469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E52CEA4-98D2-1427-844C-509D3ECE3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348AF4-D3C0-BFA8-BD49-380D71E31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41A56D-BC90-7CAE-AE83-3926ED789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30E3EC-6BBB-4F2E-A568-C4F5C53E04B3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ACEF47-8D5E-C9FF-19F4-E50DB7311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E56307-ED38-E824-3594-EA51F0FE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8C0BA-A702-4B4B-9CB7-5F5313CB17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83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517D1-9D2E-6DB0-3F86-0BEBAD91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12A1B01-3C86-FCA3-1EE4-403A17A5B977}"/>
              </a:ext>
            </a:extLst>
          </p:cNvPr>
          <p:cNvCxnSpPr>
            <a:cxnSpLocks/>
            <a:stCxn id="40" idx="7"/>
            <a:endCxn id="50" idx="4"/>
          </p:cNvCxnSpPr>
          <p:nvPr/>
        </p:nvCxnSpPr>
        <p:spPr>
          <a:xfrm flipV="1">
            <a:off x="4415733" y="2583909"/>
            <a:ext cx="1290716" cy="2882003"/>
          </a:xfrm>
          <a:prstGeom prst="line">
            <a:avLst/>
          </a:prstGeom>
          <a:ln w="57150">
            <a:solidFill>
              <a:srgbClr val="F202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C65AAFC-43D3-55C9-A17D-22B626E13D89}"/>
              </a:ext>
            </a:extLst>
          </p:cNvPr>
          <p:cNvCxnSpPr>
            <a:cxnSpLocks/>
            <a:stCxn id="49" idx="5"/>
            <a:endCxn id="40" idx="2"/>
          </p:cNvCxnSpPr>
          <p:nvPr/>
        </p:nvCxnSpPr>
        <p:spPr>
          <a:xfrm flipV="1">
            <a:off x="1749851" y="5593191"/>
            <a:ext cx="2358603" cy="67541"/>
          </a:xfrm>
          <a:prstGeom prst="line">
            <a:avLst/>
          </a:prstGeom>
          <a:ln w="57150">
            <a:solidFill>
              <a:srgbClr val="F202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64E5436-2F8E-45C7-3E77-FD7272D7F479}"/>
              </a:ext>
            </a:extLst>
          </p:cNvPr>
          <p:cNvCxnSpPr>
            <a:cxnSpLocks/>
            <a:stCxn id="29" idx="7"/>
            <a:endCxn id="50" idx="2"/>
          </p:cNvCxnSpPr>
          <p:nvPr/>
        </p:nvCxnSpPr>
        <p:spPr>
          <a:xfrm flipV="1">
            <a:off x="1725553" y="2403909"/>
            <a:ext cx="3800896" cy="1609400"/>
          </a:xfrm>
          <a:prstGeom prst="line">
            <a:avLst/>
          </a:prstGeom>
          <a:ln w="57150">
            <a:solidFill>
              <a:srgbClr val="F202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0AC86AB-C113-373D-935B-4397E7D1E938}"/>
              </a:ext>
            </a:extLst>
          </p:cNvPr>
          <p:cNvCxnSpPr>
            <a:cxnSpLocks/>
            <a:stCxn id="29" idx="4"/>
            <a:endCxn id="49" idx="0"/>
          </p:cNvCxnSpPr>
          <p:nvPr/>
        </p:nvCxnSpPr>
        <p:spPr>
          <a:xfrm>
            <a:off x="1598274" y="4320588"/>
            <a:ext cx="24298" cy="1032865"/>
          </a:xfrm>
          <a:prstGeom prst="line">
            <a:avLst/>
          </a:prstGeom>
          <a:ln w="57150">
            <a:solidFill>
              <a:srgbClr val="F202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A6A44C-990E-111C-9EAD-8CE0DFE20C83}"/>
              </a:ext>
            </a:extLst>
          </p:cNvPr>
          <p:cNvCxnSpPr>
            <a:stCxn id="41" idx="7"/>
            <a:endCxn id="34" idx="2"/>
          </p:cNvCxnSpPr>
          <p:nvPr/>
        </p:nvCxnSpPr>
        <p:spPr>
          <a:xfrm flipV="1">
            <a:off x="1758368" y="2534104"/>
            <a:ext cx="3818481" cy="2885925"/>
          </a:xfrm>
          <a:prstGeom prst="line">
            <a:avLst/>
          </a:prstGeom>
          <a:ln w="571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A4941C3-2078-24A2-A2E1-4511B0F0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CA71-8679-4036-AE40-36B200F2E8AD}" type="slidenum">
              <a:rPr lang="pt-BR" smtClean="0"/>
              <a:pPr/>
              <a:t>1</a:t>
            </a:fld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0D3E585-CD5D-423B-3767-F69C664C1897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gradFill>
            <a:gsLst>
              <a:gs pos="0">
                <a:srgbClr val="2B80AC">
                  <a:shade val="30000"/>
                  <a:satMod val="115000"/>
                  <a:lumMod val="95000"/>
                </a:srgbClr>
              </a:gs>
              <a:gs pos="79000">
                <a:srgbClr val="2289BC"/>
              </a:gs>
              <a:gs pos="51000">
                <a:srgbClr val="2B80AC">
                  <a:shade val="67500"/>
                  <a:satMod val="115000"/>
                  <a:alpha val="97000"/>
                </a:srgbClr>
              </a:gs>
              <a:gs pos="100000">
                <a:srgbClr val="2697D0"/>
              </a:gs>
            </a:gsLst>
            <a:path path="circle">
              <a:fillToRect l="50000" t="50000" r="50000" b="50000"/>
            </a:path>
          </a:gradFill>
        </p:spPr>
        <p:txBody>
          <a:bodyPr wrap="square" rtlCol="0">
            <a:spAutoFit/>
          </a:bodyPr>
          <a:lstStyle/>
          <a:p>
            <a:pPr marL="92075" lvl="1" algn="ctr"/>
            <a:r>
              <a:rPr lang="pt-BR" sz="4000" b="1" spc="300" dirty="0" err="1">
                <a:solidFill>
                  <a:schemeClr val="bg1"/>
                </a:solidFill>
                <a:latin typeface="Abadi" panose="020B0604020104020204" pitchFamily="34" charset="0"/>
              </a:rPr>
              <a:t>Kennard</a:t>
            </a:r>
            <a:r>
              <a:rPr lang="pt-BR" sz="4000" b="1" spc="300" dirty="0">
                <a:solidFill>
                  <a:schemeClr val="bg1"/>
                </a:solidFill>
                <a:latin typeface="Abadi" panose="020B0604020104020204" pitchFamily="34" charset="0"/>
              </a:rPr>
              <a:t>-Stone</a:t>
            </a:r>
            <a:endParaRPr lang="pt-BR" sz="4000" spc="3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4" name="CaixaDeTexto 12">
            <a:extLst>
              <a:ext uri="{FF2B5EF4-FFF2-40B4-BE49-F238E27FC236}">
                <a16:creationId xmlns:a16="http://schemas.microsoft.com/office/drawing/2014/main" id="{7B7A0974-BDBF-33CF-76DB-3866FB9739D6}"/>
              </a:ext>
            </a:extLst>
          </p:cNvPr>
          <p:cNvSpPr txBox="1"/>
          <p:nvPr/>
        </p:nvSpPr>
        <p:spPr>
          <a:xfrm>
            <a:off x="6983390" y="3608489"/>
            <a:ext cx="483926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solidFill>
                  <a:srgbClr val="F20253"/>
                </a:solidFill>
                <a:latin typeface="Abadi" panose="020B0604020104020204" pitchFamily="34" charset="0"/>
              </a:rPr>
              <a:t>O algoritmo procura as amostras mais distantes entre si, e as seleciona para o </a:t>
            </a:r>
            <a:r>
              <a:rPr lang="pt-BR" sz="2800" dirty="0" err="1">
                <a:solidFill>
                  <a:srgbClr val="F20253"/>
                </a:solidFill>
                <a:latin typeface="Abadi" panose="020B0604020104020204" pitchFamily="34" charset="0"/>
              </a:rPr>
              <a:t>sub-conjunto</a:t>
            </a:r>
            <a:r>
              <a:rPr lang="pt-BR" sz="2800" dirty="0">
                <a:solidFill>
                  <a:srgbClr val="F20253"/>
                </a:solidFill>
                <a:latin typeface="Abadi" panose="020B0604020104020204" pitchFamily="34" charset="0"/>
              </a:rPr>
              <a:t> (as mais globais)</a:t>
            </a:r>
            <a:endParaRPr lang="pt-BR" sz="2800" dirty="0">
              <a:solidFill>
                <a:srgbClr val="2185C5"/>
              </a:solidFill>
              <a:latin typeface="Abadi" panose="020B0604020104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2003E20-168F-F429-9E85-3D353156EFCE}"/>
              </a:ext>
            </a:extLst>
          </p:cNvPr>
          <p:cNvGrpSpPr/>
          <p:nvPr/>
        </p:nvGrpSpPr>
        <p:grpSpPr>
          <a:xfrm>
            <a:off x="83975" y="1425334"/>
            <a:ext cx="6191928" cy="4982460"/>
            <a:chOff x="142881" y="1374460"/>
            <a:chExt cx="6191928" cy="4982460"/>
          </a:xfrm>
        </p:grpSpPr>
        <p:grpSp>
          <p:nvGrpSpPr>
            <p:cNvPr id="5" name="Agrupar 12">
              <a:extLst>
                <a:ext uri="{FF2B5EF4-FFF2-40B4-BE49-F238E27FC236}">
                  <a16:creationId xmlns:a16="http://schemas.microsoft.com/office/drawing/2014/main" id="{E958397B-EB85-9E55-AEB8-E8FA3EB9D702}"/>
                </a:ext>
              </a:extLst>
            </p:cNvPr>
            <p:cNvGrpSpPr/>
            <p:nvPr/>
          </p:nvGrpSpPr>
          <p:grpSpPr>
            <a:xfrm>
              <a:off x="965200" y="1935071"/>
              <a:ext cx="4608000" cy="4212000"/>
              <a:chOff x="1076960" y="1747520"/>
              <a:chExt cx="4608000" cy="4212000"/>
            </a:xfrm>
          </p:grpSpPr>
          <p:cxnSp>
            <p:nvCxnSpPr>
              <p:cNvPr id="9" name="Conector de Seta Reta 10">
                <a:extLst>
                  <a:ext uri="{FF2B5EF4-FFF2-40B4-BE49-F238E27FC236}">
                    <a16:creationId xmlns:a16="http://schemas.microsoft.com/office/drawing/2014/main" id="{635DFBD7-E001-1FA8-0C39-BC4FAFA62CE1}"/>
                  </a:ext>
                </a:extLst>
              </p:cNvPr>
              <p:cNvCxnSpPr/>
              <p:nvPr/>
            </p:nvCxnSpPr>
            <p:spPr>
              <a:xfrm>
                <a:off x="1076960" y="1747520"/>
                <a:ext cx="0" cy="4212000"/>
              </a:xfrm>
              <a:prstGeom prst="straightConnector1">
                <a:avLst/>
              </a:prstGeom>
              <a:ln w="76200">
                <a:solidFill>
                  <a:srgbClr val="595959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de Seta Reta 11">
                <a:extLst>
                  <a:ext uri="{FF2B5EF4-FFF2-40B4-BE49-F238E27FC236}">
                    <a16:creationId xmlns:a16="http://schemas.microsoft.com/office/drawing/2014/main" id="{211871C7-6202-9E44-07D2-C8A282D69BE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380960" y="3630538"/>
                <a:ext cx="0" cy="4608000"/>
              </a:xfrm>
              <a:prstGeom prst="straightConnector1">
                <a:avLst/>
              </a:prstGeom>
              <a:ln w="76200">
                <a:solidFill>
                  <a:srgbClr val="595959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531A31E-EEBA-9A55-243A-99CEF08ECC54}"/>
                    </a:ext>
                  </a:extLst>
                </p:cNvPr>
                <p:cNvSpPr txBox="1"/>
                <p:nvPr/>
              </p:nvSpPr>
              <p:spPr>
                <a:xfrm>
                  <a:off x="5440729" y="5649034"/>
                  <a:ext cx="89408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4000" b="1" i="1" dirty="0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4000" b="1" i="1" baseline="-25000" dirty="0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4000" b="1" baseline="-25000" dirty="0">
                    <a:solidFill>
                      <a:srgbClr val="595959"/>
                    </a:solidFill>
                    <a:latin typeface="Abadi" panose="020B060402010402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531A31E-EEBA-9A55-243A-99CEF08EC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0729" y="5649034"/>
                  <a:ext cx="894080" cy="70788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60299D5-ED71-1C1F-3550-072C7A4788CF}"/>
                    </a:ext>
                  </a:extLst>
                </p:cNvPr>
                <p:cNvSpPr txBox="1"/>
                <p:nvPr/>
              </p:nvSpPr>
              <p:spPr>
                <a:xfrm>
                  <a:off x="142881" y="1374460"/>
                  <a:ext cx="89408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4000" b="1" i="1" dirty="0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4000" b="1" i="1" baseline="-25000" dirty="0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US" sz="4000" b="1" baseline="-25000" dirty="0">
                    <a:solidFill>
                      <a:srgbClr val="595959"/>
                    </a:solidFill>
                    <a:latin typeface="Abadi" panose="020B0604020104020204" pitchFamily="34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60299D5-ED71-1C1F-3550-072C7A478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881" y="1374460"/>
                  <a:ext cx="894080" cy="70788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39E76E1C-5C35-4918-C32C-A56048287BC4}"/>
              </a:ext>
            </a:extLst>
          </p:cNvPr>
          <p:cNvSpPr/>
          <p:nvPr/>
        </p:nvSpPr>
        <p:spPr>
          <a:xfrm>
            <a:off x="2071868" y="1858329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69BFEB-D15E-3AEB-304F-1268B9A59B48}"/>
              </a:ext>
            </a:extLst>
          </p:cNvPr>
          <p:cNvSpPr/>
          <p:nvPr/>
        </p:nvSpPr>
        <p:spPr>
          <a:xfrm>
            <a:off x="2629382" y="1985945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64FA54A-EA72-0F62-6B48-41B4EAE9D0CF}"/>
              </a:ext>
            </a:extLst>
          </p:cNvPr>
          <p:cNvSpPr/>
          <p:nvPr/>
        </p:nvSpPr>
        <p:spPr>
          <a:xfrm>
            <a:off x="2229683" y="2520015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6046601-22FE-F03C-1BA8-65242B4534D4}"/>
              </a:ext>
            </a:extLst>
          </p:cNvPr>
          <p:cNvSpPr/>
          <p:nvPr/>
        </p:nvSpPr>
        <p:spPr>
          <a:xfrm>
            <a:off x="3568076" y="2129588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6A9217-3CA3-04AA-9786-00354091E938}"/>
              </a:ext>
            </a:extLst>
          </p:cNvPr>
          <p:cNvSpPr/>
          <p:nvPr/>
        </p:nvSpPr>
        <p:spPr>
          <a:xfrm>
            <a:off x="2064185" y="3614298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46FB44-CA6F-3546-D4A4-81FB6366C645}"/>
              </a:ext>
            </a:extLst>
          </p:cNvPr>
          <p:cNvSpPr/>
          <p:nvPr/>
        </p:nvSpPr>
        <p:spPr>
          <a:xfrm>
            <a:off x="3189485" y="1744583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695FC3D-560B-7554-A419-5AEC0430C89C}"/>
              </a:ext>
            </a:extLst>
          </p:cNvPr>
          <p:cNvSpPr/>
          <p:nvPr/>
        </p:nvSpPr>
        <p:spPr>
          <a:xfrm>
            <a:off x="1498430" y="2748900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38B573-5A53-F864-CD6A-10A45EBC31E9}"/>
              </a:ext>
            </a:extLst>
          </p:cNvPr>
          <p:cNvSpPr/>
          <p:nvPr/>
        </p:nvSpPr>
        <p:spPr>
          <a:xfrm>
            <a:off x="4499472" y="4346489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EC4BE0D-5804-2CB0-888E-A84D1A7AF055}"/>
              </a:ext>
            </a:extLst>
          </p:cNvPr>
          <p:cNvSpPr/>
          <p:nvPr/>
        </p:nvSpPr>
        <p:spPr>
          <a:xfrm rot="17685741">
            <a:off x="3694136" y="4222088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461F40C-6073-8F15-40F3-5815E09BBC11}"/>
              </a:ext>
            </a:extLst>
          </p:cNvPr>
          <p:cNvSpPr/>
          <p:nvPr/>
        </p:nvSpPr>
        <p:spPr>
          <a:xfrm>
            <a:off x="2769763" y="2906456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5F2F4D9-FFDD-3379-D343-BE518B5FFA5F}"/>
              </a:ext>
            </a:extLst>
          </p:cNvPr>
          <p:cNvSpPr/>
          <p:nvPr/>
        </p:nvSpPr>
        <p:spPr>
          <a:xfrm>
            <a:off x="4329336" y="3114319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D34AA40-0685-1BDA-0B27-9B74DC34B5DD}"/>
              </a:ext>
            </a:extLst>
          </p:cNvPr>
          <p:cNvSpPr/>
          <p:nvPr/>
        </p:nvSpPr>
        <p:spPr>
          <a:xfrm>
            <a:off x="3414930" y="2654243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64246EE-C1BA-F3AC-3098-46013C27D9E8}"/>
              </a:ext>
            </a:extLst>
          </p:cNvPr>
          <p:cNvSpPr/>
          <p:nvPr/>
        </p:nvSpPr>
        <p:spPr>
          <a:xfrm>
            <a:off x="3222075" y="3383685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4AA409-76DD-5484-3FF5-BF35E006F8B6}"/>
              </a:ext>
            </a:extLst>
          </p:cNvPr>
          <p:cNvSpPr/>
          <p:nvPr/>
        </p:nvSpPr>
        <p:spPr>
          <a:xfrm>
            <a:off x="4810043" y="2803524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48F765E-3245-196C-EEB0-1946B8A31293}"/>
              </a:ext>
            </a:extLst>
          </p:cNvPr>
          <p:cNvSpPr/>
          <p:nvPr/>
        </p:nvSpPr>
        <p:spPr>
          <a:xfrm rot="17685741">
            <a:off x="2836320" y="3902901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3C36AAC-9AF7-92B9-F3E2-21978484AE0F}"/>
              </a:ext>
            </a:extLst>
          </p:cNvPr>
          <p:cNvSpPr/>
          <p:nvPr/>
        </p:nvSpPr>
        <p:spPr>
          <a:xfrm>
            <a:off x="2001472" y="4324859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B9A18A3-6F96-4D56-F9B2-D95A4D6EA278}"/>
              </a:ext>
            </a:extLst>
          </p:cNvPr>
          <p:cNvSpPr/>
          <p:nvPr/>
        </p:nvSpPr>
        <p:spPr>
          <a:xfrm>
            <a:off x="2305785" y="5084631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7B20772-2005-73BF-D4E3-04A3586EA65E}"/>
              </a:ext>
            </a:extLst>
          </p:cNvPr>
          <p:cNvSpPr/>
          <p:nvPr/>
        </p:nvSpPr>
        <p:spPr>
          <a:xfrm>
            <a:off x="1418274" y="3960588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ACAD2CE-7202-A7DB-5D17-9C3535D86EC4}"/>
              </a:ext>
            </a:extLst>
          </p:cNvPr>
          <p:cNvSpPr/>
          <p:nvPr/>
        </p:nvSpPr>
        <p:spPr>
          <a:xfrm>
            <a:off x="3780576" y="3609947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C65DFC0-B7E4-858A-2B4E-3C7FF7AF041F}"/>
              </a:ext>
            </a:extLst>
          </p:cNvPr>
          <p:cNvSpPr/>
          <p:nvPr/>
        </p:nvSpPr>
        <p:spPr>
          <a:xfrm>
            <a:off x="5290750" y="3024829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32E2A0E-C7EA-9EFF-1390-155C0F40CAD6}"/>
              </a:ext>
            </a:extLst>
          </p:cNvPr>
          <p:cNvSpPr/>
          <p:nvPr/>
        </p:nvSpPr>
        <p:spPr>
          <a:xfrm>
            <a:off x="5235637" y="4692478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BB44D3D-8386-954F-DA70-89608C556482}"/>
              </a:ext>
            </a:extLst>
          </p:cNvPr>
          <p:cNvSpPr/>
          <p:nvPr/>
        </p:nvSpPr>
        <p:spPr>
          <a:xfrm>
            <a:off x="3987201" y="2569059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1930406-61D0-C0EA-ED33-86E490C5F984}"/>
              </a:ext>
            </a:extLst>
          </p:cNvPr>
          <p:cNvSpPr/>
          <p:nvPr/>
        </p:nvSpPr>
        <p:spPr>
          <a:xfrm rot="18892924">
            <a:off x="5523866" y="2226563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DA128D8-125A-CB5B-7DF3-9B53886A6FDE}"/>
              </a:ext>
            </a:extLst>
          </p:cNvPr>
          <p:cNvSpPr/>
          <p:nvPr/>
        </p:nvSpPr>
        <p:spPr>
          <a:xfrm>
            <a:off x="4154955" y="1745353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6265FCA-5F52-6BA3-6943-B79A2BBA3134}"/>
              </a:ext>
            </a:extLst>
          </p:cNvPr>
          <p:cNvSpPr/>
          <p:nvPr/>
        </p:nvSpPr>
        <p:spPr>
          <a:xfrm>
            <a:off x="4816583" y="3780588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50671A9-4795-0619-9708-11F51231D055}"/>
              </a:ext>
            </a:extLst>
          </p:cNvPr>
          <p:cNvSpPr/>
          <p:nvPr/>
        </p:nvSpPr>
        <p:spPr>
          <a:xfrm>
            <a:off x="4609433" y="4688270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68E3175-D606-CB6E-2650-58104A0F18F9}"/>
              </a:ext>
            </a:extLst>
          </p:cNvPr>
          <p:cNvSpPr/>
          <p:nvPr/>
        </p:nvSpPr>
        <p:spPr>
          <a:xfrm>
            <a:off x="3215310" y="4872478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3D12EAD-F36F-A80A-AB74-BEFE4855490F}"/>
              </a:ext>
            </a:extLst>
          </p:cNvPr>
          <p:cNvSpPr/>
          <p:nvPr/>
        </p:nvSpPr>
        <p:spPr>
          <a:xfrm>
            <a:off x="3899911" y="4793720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9CB46E0-8FF0-893A-8F77-27F50B71C703}"/>
              </a:ext>
            </a:extLst>
          </p:cNvPr>
          <p:cNvSpPr/>
          <p:nvPr/>
        </p:nvSpPr>
        <p:spPr>
          <a:xfrm>
            <a:off x="4108454" y="5413191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595CD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D9E15EB-779E-799F-48EA-076D4224C9BB}"/>
              </a:ext>
            </a:extLst>
          </p:cNvPr>
          <p:cNvSpPr/>
          <p:nvPr/>
        </p:nvSpPr>
        <p:spPr>
          <a:xfrm rot="238514">
            <a:off x="1442572" y="5358178"/>
            <a:ext cx="360000" cy="360000"/>
          </a:xfrm>
          <a:prstGeom prst="ellipse">
            <a:avLst/>
          </a:prstGeom>
          <a:solidFill>
            <a:srgbClr val="F20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2672180-C24F-EA0A-CCBA-6E2783DE7010}"/>
                  </a:ext>
                </a:extLst>
              </p:cNvPr>
              <p:cNvSpPr txBox="1"/>
              <p:nvPr/>
            </p:nvSpPr>
            <p:spPr>
              <a:xfrm>
                <a:off x="6737418" y="918398"/>
                <a:ext cx="4214295" cy="1915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solidFill>
                                <a:srgbClr val="F2025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solidFill>
                                <a:srgbClr val="F2025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rgbClr val="F2025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3200" b="0" i="1" smtClean="0">
                          <a:solidFill>
                            <a:srgbClr val="F2025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3200" b="0" i="1" smtClean="0">
                              <a:solidFill>
                                <a:srgbClr val="F2025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pt-BR" sz="3200" b="0" i="1" smtClean="0">
                                  <a:solidFill>
                                    <a:srgbClr val="F2025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pt-BR" sz="3200" b="0" i="1" smtClean="0">
                                      <a:solidFill>
                                        <a:srgbClr val="F2025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pt-BR" sz="3200" b="0" i="1" smtClean="0">
                                      <a:solidFill>
                                        <a:srgbClr val="F20253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3200" b="0" i="1" smtClean="0">
                                      <a:solidFill>
                                        <a:srgbClr val="F20253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pt-BR" sz="3200" b="0" i="1" smtClean="0">
                                      <a:solidFill>
                                        <a:srgbClr val="F2025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3200" b="0" i="1" smtClean="0">
                                      <a:solidFill>
                                        <a:srgbClr val="F2025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pt-BR" sz="3200" b="0" i="1" smtClean="0">
                                      <a:solidFill>
                                        <a:srgbClr val="F2025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eqArr>
                            </m:sub>
                            <m:sup>
                              <m:r>
                                <a:rPr lang="pt-BR" sz="3200" b="0" i="1" smtClean="0">
                                  <a:solidFill>
                                    <a:srgbClr val="F20253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pt-BR" sz="3200" b="0" i="1" smtClean="0">
                                  <a:solidFill>
                                    <a:srgbClr val="F20253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sSub>
                            <m:sSubPr>
                              <m:ctrlPr>
                                <a:rPr lang="pt-BR" sz="3200" b="0" i="1" smtClean="0">
                                  <a:solidFill>
                                    <a:srgbClr val="F2025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solidFill>
                                    <a:srgbClr val="F20253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3200" b="0" i="1" smtClean="0">
                                  <a:solidFill>
                                    <a:srgbClr val="F20253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pt-BR" sz="3200" b="0" i="1" smtClean="0">
                              <a:solidFill>
                                <a:srgbClr val="F2025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solidFill>
                                    <a:srgbClr val="F2025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solidFill>
                                    <a:srgbClr val="F20253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3200" b="0" i="1" smtClean="0">
                                  <a:solidFill>
                                    <a:srgbClr val="F20253"/>
                                  </a:solidFill>
                                  <a:latin typeface="Cambria Math" panose="02040503050406030204" pitchFamily="18" charset="0"/>
                                </a:rPr>
                                <m:t>𝑗𝑛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3200" b="0" i="1" smtClean="0">
                                  <a:solidFill>
                                    <a:srgbClr val="F2025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solidFill>
                                    <a:srgbClr val="F20253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3200" b="0" i="1" smtClean="0">
                                  <a:solidFill>
                                    <a:srgbClr val="F2025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3200" dirty="0">
                  <a:solidFill>
                    <a:srgbClr val="F20253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2672180-C24F-EA0A-CCBA-6E2783DE7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418" y="918398"/>
                <a:ext cx="4214295" cy="19158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val 48">
            <a:extLst>
              <a:ext uri="{FF2B5EF4-FFF2-40B4-BE49-F238E27FC236}">
                <a16:creationId xmlns:a16="http://schemas.microsoft.com/office/drawing/2014/main" id="{FE84CC24-F61B-4AA7-786D-5F00ECD9BFA4}"/>
              </a:ext>
            </a:extLst>
          </p:cNvPr>
          <p:cNvSpPr/>
          <p:nvPr/>
        </p:nvSpPr>
        <p:spPr>
          <a:xfrm>
            <a:off x="1442572" y="5353453"/>
            <a:ext cx="360000" cy="360000"/>
          </a:xfrm>
          <a:prstGeom prst="ellipse">
            <a:avLst/>
          </a:prstGeom>
          <a:solidFill>
            <a:srgbClr val="2595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595CD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D817737-1E2B-52A2-76B0-14675E057EF5}"/>
              </a:ext>
            </a:extLst>
          </p:cNvPr>
          <p:cNvSpPr/>
          <p:nvPr/>
        </p:nvSpPr>
        <p:spPr>
          <a:xfrm>
            <a:off x="5526449" y="2223909"/>
            <a:ext cx="360000" cy="360000"/>
          </a:xfrm>
          <a:prstGeom prst="ellipse">
            <a:avLst/>
          </a:prstGeom>
          <a:solidFill>
            <a:srgbClr val="2595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595CD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2159255-19FF-3574-A312-F25DDB640643}"/>
              </a:ext>
            </a:extLst>
          </p:cNvPr>
          <p:cNvSpPr/>
          <p:nvPr/>
        </p:nvSpPr>
        <p:spPr>
          <a:xfrm>
            <a:off x="4108454" y="5413191"/>
            <a:ext cx="360000" cy="360000"/>
          </a:xfrm>
          <a:prstGeom prst="ellipse">
            <a:avLst/>
          </a:prstGeom>
          <a:solidFill>
            <a:srgbClr val="2595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595CD"/>
              </a:solidFill>
            </a:endParaRPr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27354ABC-C914-E500-FB71-3EE1D59BD42D}"/>
              </a:ext>
            </a:extLst>
          </p:cNvPr>
          <p:cNvSpPr txBox="1"/>
          <p:nvPr/>
        </p:nvSpPr>
        <p:spPr>
          <a:xfrm>
            <a:off x="6990156" y="3173448"/>
            <a:ext cx="4826710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solidFill>
                  <a:srgbClr val="F20253"/>
                </a:solidFill>
                <a:latin typeface="Abadi" panose="020B0604020104020204" pitchFamily="34" charset="0"/>
              </a:rPr>
              <a:t>O algoritmo então procura, entre as amostras restantes, aquela que tem a maior distância mínima em relação às amostras já selecionadas. E continua enquanto desejado</a:t>
            </a:r>
            <a:endParaRPr lang="pt-BR" sz="2800" dirty="0">
              <a:solidFill>
                <a:srgbClr val="2185C5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53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64" grpId="0" animBg="1"/>
      <p:bldP spid="6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3079</TotalTime>
  <Words>122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Abadi</vt:lpstr>
      <vt:lpstr>Aptos</vt:lpstr>
      <vt:lpstr>Aptos Display</vt:lpstr>
      <vt:lpstr>Arial</vt:lpstr>
      <vt:lpstr>Cambria Math</vt:lpstr>
      <vt:lpstr>Tema do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Vinicius Ribeiro</dc:creator>
  <cp:lastModifiedBy>José Vinicius Ribeiro</cp:lastModifiedBy>
  <cp:revision>49</cp:revision>
  <dcterms:created xsi:type="dcterms:W3CDTF">2024-09-23T16:27:30Z</dcterms:created>
  <dcterms:modified xsi:type="dcterms:W3CDTF">2026-01-18T15:54:13Z</dcterms:modified>
</cp:coreProperties>
</file>